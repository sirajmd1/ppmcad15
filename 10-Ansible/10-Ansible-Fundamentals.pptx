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8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67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Ansible: Configuration Management Fundamentals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server configuration at scale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1356"/>
            <a:ext cx="8229601" cy="37472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1" y="1063811"/>
            <a:ext cx="249819" cy="249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135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problem: manual configuration and script fragility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19516"/>
            <a:ext cx="8229601" cy="374729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1" y="1581971"/>
            <a:ext cx="249819" cy="2498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51951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agent-based vs agentless configuration management tools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068156"/>
            <a:ext cx="8229601" cy="37472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1" y="2130611"/>
            <a:ext cx="249819" cy="2498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06815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Ansible architecture: control node, managed nodes, SSH inventory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624416"/>
            <a:ext cx="8229601" cy="374729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1" y="2686871"/>
            <a:ext cx="249819" cy="2498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62441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first playbook with tasks, handlers, and variables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203536"/>
            <a:ext cx="8229601" cy="37472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31" y="3265991"/>
            <a:ext cx="249819" cy="2498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20353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secrets using Ansible Vault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8EEDF026-9C12-E4DF-8037-A5DF1CA85FD6}"/>
              </a:ext>
            </a:extLst>
          </p:cNvPr>
          <p:cNvSpPr/>
          <p:nvPr/>
        </p:nvSpPr>
        <p:spPr>
          <a:xfrm>
            <a:off x="457200" y="3744556"/>
            <a:ext cx="8229601" cy="37472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E80F0269-ABA8-F20A-F7C3-21429B1A57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31" y="3807011"/>
            <a:ext cx="249819" cy="249819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F5863430-FA7B-B951-07AE-4063DDE8A237}"/>
              </a:ext>
            </a:extLst>
          </p:cNvPr>
          <p:cNvSpPr/>
          <p:nvPr/>
        </p:nvSpPr>
        <p:spPr>
          <a:xfrm>
            <a:off x="1097280" y="374455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roles: self-contained automation units with standardized structure</a:t>
            </a:r>
            <a:endParaRPr lang="en-US" sz="14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87A8C934-48FE-055F-C93B-2424460271DE}"/>
              </a:ext>
            </a:extLst>
          </p:cNvPr>
          <p:cNvSpPr/>
          <p:nvPr/>
        </p:nvSpPr>
        <p:spPr>
          <a:xfrm>
            <a:off x="457200" y="4285576"/>
            <a:ext cx="8229601" cy="374729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52BE4728-9A7F-2390-4652-C7DD5B0B2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1" y="4348031"/>
            <a:ext cx="249819" cy="249819"/>
          </a:xfrm>
          <a:prstGeom prst="rect">
            <a:avLst/>
          </a:prstGeom>
        </p:spPr>
      </p:pic>
      <p:sp>
        <p:nvSpPr>
          <p:cNvPr id="23" name="Text 4">
            <a:extLst>
              <a:ext uri="{FF2B5EF4-FFF2-40B4-BE49-F238E27FC236}">
                <a16:creationId xmlns:a16="http://schemas.microsoft.com/office/drawing/2014/main" id="{955B43CD-0702-3740-70C3-D3EC91239B7E}"/>
              </a:ext>
            </a:extLst>
          </p:cNvPr>
          <p:cNvSpPr/>
          <p:nvPr/>
        </p:nvSpPr>
        <p:spPr>
          <a:xfrm>
            <a:off x="1097280" y="428557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role directory structure: tasks, handlers, defaults, vars, templates, files, meta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Manual Configuration at Scale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configuration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Operations on VMs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SSH to 3-30 servers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install nginx, Java, Node.js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each service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individuallya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consistency across environments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manual labor per deployment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CC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with Shell Scripts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idempotent (run twice = broken)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state awareness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drift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maintain and debug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scale beyond 10 servers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Configuration Management?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result whether run once or 100 times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desired state, not steps to achieve it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Aware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and corrects configuration drift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thousands of servers with one tool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 vs Agentless Approaches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configuration management tools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66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 (Puppet, Chef)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agent software on each server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 connection (agent → control)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complex to set up and maintain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resource overhead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central 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Agentless (Ansible)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needed on target servers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push connection (control → agent)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set up and use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resource overhead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prerequisites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node, managed nodes, SSH, inventory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Node: your laptop or CI/CD server (should be running on Linux)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Nodes: target servers (VMs, cloud,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(Can be Linux or Windows)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/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Winrm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only requirement on managed nodes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Inventory: defines hosts and groups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Playbooks: YAML files with tasks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→ read inventory file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→ generate tasks via Playbooks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→ push via SSH to managed node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node → execute + return results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→ log results and next task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Inventory: Static vs Dynamic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Static Inventory File (YAML)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ansible_user: ubuntu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ansible_key_file: ~/.ssh/id_rsa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webservers: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hosts: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web1.example.com: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web2.example.com: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dbservers: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hosts: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db1.example.com: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ansible_host: 10.0.1.50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Commands: Quick Tasks Without Playbooks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9352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493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-m ping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493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connectivity to all hosts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3243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932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webservers -m shell -a 'uptime'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9324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shell command on webservers group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134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3713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-m apt -a 'name=nginx state=present'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371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package (idempotent)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1025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8102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-m service -a 'name=nginx state=started'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8102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service is running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Playbook: Install Nginx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8176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Deploy Nginx Web Servers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webservers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gather_facts: no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vars: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nginx_port: 80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Install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apt: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present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Start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service: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started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enabled: yes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Ansible Modules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 for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 / yum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Install/remove packages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5603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/ command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7472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arbitrary commands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417320"/>
            <a:ext cx="25603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54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0936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Start/stop/restart services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246120"/>
            <a:ext cx="25603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832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/ template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files with/without variables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91840" y="3246120"/>
            <a:ext cx="2560320" cy="164592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33832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group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47472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Create/modify users and groups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26480" y="3246120"/>
            <a:ext cx="2560320" cy="1645920"/>
          </a:xfrm>
          <a:prstGeom prst="rect">
            <a:avLst/>
          </a:prstGeom>
          <a:solidFill>
            <a:srgbClr val="FFE8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3832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lineinfile / blockinfile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30936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config files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Handlers: Triggered Reactions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6652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Configure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webservers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Copy nginx config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copy: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src: nginx.conf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dest: /etc/nginx/nginx.conf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notify: restart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handlers: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restart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service: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restarted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&amp; Secrets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Jinja2 templates and encrypted vaults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(Three Ways)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vars: defined in play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group_vars/: per-group defaults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host_vars/: per-host overrides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with {{ variable }} in tasks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Precedence: host_vars &gt; group_vars &gt; defaults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Vault (Encryption)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secrets (passwords, keys) encrypted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ansible-vault create secrets.yml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in playbook normally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for password on ansible-playbook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unencrypted secrets to git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Roles: Playbook Sprawl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complexity grows, playbooks become unmaintainable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66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Playbook Problems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giant playbook with 100+ tasks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reuse nginx setup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leads to inconsistency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test individual components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becomes a nightmare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Self-contained, reusable units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structure (tasks, defaults, etc)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 same role on 10 projects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test and version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via Ansible Galaxy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Self-Contained Automation Units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handles one component (nginx, java, etc)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directory layout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same role across many projects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to Ansible Galaxy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Directory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layout that Ansible expects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nginx/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tasks/          # List of tasks to execute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main.yml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handlers/       # Handlers (restart service, reload config)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main.yml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defaults/       # Default variables (lowest precedence)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main.yml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vars/          # Role-specific variables (higher precedence)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main.yml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templates/      # Jinja2 templates (*.j2)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nginx.conf.j2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files/         # Static files (no templating)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index.html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meta/          # Role metadata and dependencies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main.yml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Role: tasks/main.yml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8176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Install Nginx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apt: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nginx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state: present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Copy nginx config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src: nginx.conf.j2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dest: /etc/nginx/nginx.conf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notify: restart nginx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Ensure Nginx is started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service: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nginx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state: started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enabled: yes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Create index page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copy: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src: index.html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dest: /var/www/html/index.html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handlers/ and defaults/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reactions and configuration defaults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handlers/main.yml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name: restart nginx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service: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name: nginx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state: restarted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by notify: in tasks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once at end of play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defaults/main.yml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nginx_port: 80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nginx_user: www-data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nginx_worker: 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enable_ssl: false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precedence variables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overridden by playbook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Playbook: Using Roles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82980"/>
            <a:ext cx="8229600" cy="3995601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Deploy Production Servers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all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roles: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nginx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java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elasticsearch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Deploy with Variables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webservers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roles: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role: nginx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vars: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nginx_port: 8080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enable_ssl: true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Deploy with Tags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all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roles: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{ role: nginx, tags: web 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{ role: java, tags: runtime }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Jinja2 Templating: Conditionals &amp; Loops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configuration files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nginx.conf.j2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listen {{ nginx_port }};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server_name {{ server_name | default('_') }};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if enable_ssl %}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ssl_certificate {{ ssl_cert_path }};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ssl_certificate_key {{ ssl_key_path }};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endif %}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 /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proxy_pass http://backend;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{% for header in custom_headers %}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add_header {{ header }};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{% endfor %}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Jinja2 Filters: Transform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var | upper }}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UPPERCASE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var | lower }}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lowercase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list | join(', ') 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75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array with delimiter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dict | to_nice_json }}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JSON nicely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var | default('fallback') }}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529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fallback if undefined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var | int }}, {{ var | float }}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conversion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Precedence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number = higher priority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461E36-B145-091C-12D9-FB4ADF0F302D}"/>
              </a:ext>
            </a:extLst>
          </p:cNvPr>
          <p:cNvSpPr txBox="1"/>
          <p:nvPr/>
        </p:nvSpPr>
        <p:spPr>
          <a:xfrm>
            <a:off x="617220" y="1409700"/>
            <a:ext cx="75514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Command-line variables (</a:t>
            </a:r>
            <a:r>
              <a:rPr lang="en-US" sz="1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--extra-vars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Highest precedence // </a:t>
            </a:r>
            <a:r>
              <a:rPr lang="en-US" sz="1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prescribed because the ideal/standard approach should always be to preserve everything in a file</a:t>
            </a:r>
          </a:p>
          <a:p>
            <a:pPr lvl="0">
              <a:buClr>
                <a:schemeClr val="dk1"/>
              </a:buClr>
              <a:buSzPts val="1100"/>
            </a:pPr>
            <a:endParaRPr lang="en-US" sz="1400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Playbook variables (</a:t>
            </a:r>
            <a:r>
              <a:rPr lang="en-US" sz="1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vars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 section)</a:t>
            </a:r>
          </a:p>
          <a:p>
            <a:pPr lvl="0">
              <a:buClr>
                <a:schemeClr val="dk1"/>
              </a:buClr>
              <a:buSzPts val="1100"/>
            </a:pPr>
            <a:endParaRPr lang="en-US" sz="1400" b="1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Host variables (</a:t>
            </a:r>
            <a:r>
              <a:rPr lang="en-US" sz="1400" b="1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host_vars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lvl="0">
              <a:buClr>
                <a:schemeClr val="dk1"/>
              </a:buClr>
              <a:buSzPts val="1100"/>
            </a:pPr>
            <a:endParaRPr lang="en-US" sz="1400" b="1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Group variables (</a:t>
            </a:r>
            <a:r>
              <a:rPr lang="en-US" sz="1400" b="1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group_vars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) // Best place to define the variables</a:t>
            </a:r>
          </a:p>
          <a:p>
            <a:pPr lvl="0">
              <a:buClr>
                <a:schemeClr val="dk1"/>
              </a:buClr>
              <a:buSzPts val="1100"/>
            </a:pPr>
            <a:endParaRPr lang="en-US" sz="1400" b="1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Role variables defined in </a:t>
            </a:r>
            <a:r>
              <a:rPr lang="en-US" sz="1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vars/</a:t>
            </a:r>
            <a:r>
              <a:rPr lang="en-US" sz="1400" b="1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main.yml</a:t>
            </a: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 (if defined in the role) // </a:t>
            </a:r>
            <a:r>
              <a:rPr lang="en-US" sz="1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the best place because we want to keep the role generic without any default or override variable</a:t>
            </a:r>
          </a:p>
          <a:p>
            <a:pPr lvl="0">
              <a:buClr>
                <a:schemeClr val="dk1"/>
              </a:buClr>
              <a:buSzPts val="1100"/>
            </a:pPr>
            <a:endParaRPr lang="en-US" sz="1400" dirty="0"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Role defaults (</a:t>
            </a:r>
            <a:r>
              <a:rPr lang="en-US" sz="1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defaults/</a:t>
            </a:r>
            <a:r>
              <a:rPr lang="en-US" sz="1400" b="1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main.yml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 – Lowest precedence // </a:t>
            </a:r>
            <a:r>
              <a:rPr lang="en-US" sz="1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the best place because we want to keep the role generic without any default or override variable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2877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6593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1639</Words>
  <Application>Microsoft Office PowerPoint</Application>
  <PresentationFormat>On-screen Show (16:9)</PresentationFormat>
  <Paragraphs>320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Consolas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7</cp:revision>
  <dcterms:created xsi:type="dcterms:W3CDTF">2026-03-26T20:24:24Z</dcterms:created>
  <dcterms:modified xsi:type="dcterms:W3CDTF">2026-05-29T20:02:47Z</dcterms:modified>
</cp:coreProperties>
</file>