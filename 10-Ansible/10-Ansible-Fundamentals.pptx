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68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586799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6.png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11880" y="457200"/>
            <a:ext cx="1920240" cy="1920240"/>
          </a:xfrm>
          <a:prstGeom prst="ellipse">
            <a:avLst/>
          </a:prstGeom>
          <a:ln w="31750">
            <a:solidFill>
              <a:srgbClr val="326CE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685800"/>
            <a:ext cx="118872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56032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Ansible: Configuration Management Fundamentals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server configuration at scale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Objectives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1356"/>
            <a:ext cx="8229601" cy="37472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31" y="1063811"/>
            <a:ext cx="249819" cy="24981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00135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the problem: manual configuration and script fragility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519516"/>
            <a:ext cx="8229601" cy="374729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1" y="1581971"/>
            <a:ext cx="249819" cy="24981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151951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agent-based vs agentless configuration management tools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57200" y="2068156"/>
            <a:ext cx="8229601" cy="37472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331" y="2130611"/>
            <a:ext cx="249819" cy="249819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97280" y="206815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Ansible architecture: control node, managed nodes, SSH inventory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57200" y="2624416"/>
            <a:ext cx="8229601" cy="374729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331" y="2686871"/>
            <a:ext cx="249819" cy="2498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097280" y="262441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your first playbook with tasks, handlers, and variables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457200" y="3203536"/>
            <a:ext cx="8229601" cy="37472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331" y="3265991"/>
            <a:ext cx="249819" cy="249819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097280" y="320353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secrets using Ansible Vault</a:t>
            </a:r>
            <a:endParaRPr lang="en-US" sz="1400" dirty="0"/>
          </a:p>
        </p:txBody>
      </p:sp>
      <p:sp>
        <p:nvSpPr>
          <p:cNvPr id="18" name="Shape 1">
            <a:extLst>
              <a:ext uri="{FF2B5EF4-FFF2-40B4-BE49-F238E27FC236}">
                <a16:creationId xmlns:a16="http://schemas.microsoft.com/office/drawing/2014/main" id="{8EEDF026-9C12-E4DF-8037-A5DF1CA85FD6}"/>
              </a:ext>
            </a:extLst>
          </p:cNvPr>
          <p:cNvSpPr/>
          <p:nvPr/>
        </p:nvSpPr>
        <p:spPr>
          <a:xfrm>
            <a:off x="457200" y="3744556"/>
            <a:ext cx="8229601" cy="374729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E80F0269-ABA8-F20A-F7C3-21429B1A57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331" y="3807011"/>
            <a:ext cx="249819" cy="249819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F5863430-FA7B-B951-07AE-4063DDE8A237}"/>
              </a:ext>
            </a:extLst>
          </p:cNvPr>
          <p:cNvSpPr/>
          <p:nvPr/>
        </p:nvSpPr>
        <p:spPr>
          <a:xfrm>
            <a:off x="1097280" y="374455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roles: self-contained automation units with standardized structure</a:t>
            </a:r>
            <a:endParaRPr lang="en-US" sz="1400" dirty="0"/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87A8C934-48FE-055F-C93B-2424460271DE}"/>
              </a:ext>
            </a:extLst>
          </p:cNvPr>
          <p:cNvSpPr/>
          <p:nvPr/>
        </p:nvSpPr>
        <p:spPr>
          <a:xfrm>
            <a:off x="457200" y="4285576"/>
            <a:ext cx="8229601" cy="374729"/>
          </a:xfrm>
          <a:prstGeom prst="rect">
            <a:avLst/>
          </a:prstGeom>
          <a:solidFill>
            <a:srgbClr val="F4F7FC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2" name="Image 1" descr="preencoded.png">
            <a:extLst>
              <a:ext uri="{FF2B5EF4-FFF2-40B4-BE49-F238E27FC236}">
                <a16:creationId xmlns:a16="http://schemas.microsoft.com/office/drawing/2014/main" id="{52BE4728-9A7F-2390-4652-C7DD5B0B2E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331" y="4348031"/>
            <a:ext cx="249819" cy="249819"/>
          </a:xfrm>
          <a:prstGeom prst="rect">
            <a:avLst/>
          </a:prstGeom>
        </p:spPr>
      </p:pic>
      <p:sp>
        <p:nvSpPr>
          <p:cNvPr id="23" name="Text 4">
            <a:extLst>
              <a:ext uri="{FF2B5EF4-FFF2-40B4-BE49-F238E27FC236}">
                <a16:creationId xmlns:a16="http://schemas.microsoft.com/office/drawing/2014/main" id="{955B43CD-0702-3740-70C3-D3EC91239B7E}"/>
              </a:ext>
            </a:extLst>
          </p:cNvPr>
          <p:cNvSpPr/>
          <p:nvPr/>
        </p:nvSpPr>
        <p:spPr>
          <a:xfrm>
            <a:off x="1097280" y="4285576"/>
            <a:ext cx="7406640" cy="3747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role directory structure: tasks, handlers, defaults, vars, templates, files, meta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Manual Configuration at Scale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configuration management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CC333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Operations on VMs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SSH to 3-30 servers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Manually install nginx, Java, Node.js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each service individually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consistency across environments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 of manual labor per deployment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CC993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Problems with Shell Scripts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idempotent (run twice = broken)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state awareness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drift detection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maintain and debug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to scale beyond 10 servers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Configuration Management?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result whether run once or 100 times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desired state, not steps to achieve it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0E8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Aware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and corrects configuration drift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FF0E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thousands of servers with one tool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 vs Agentless Approaches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configuration management tools work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CC663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Agent-Based (Puppet, Chef)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agent software on each server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Polling connection (agent → control)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complex to set up and maintain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resource overhead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Requires central server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228B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Agentless (Ansible)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agent needed on target servers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 push connection (control → agent)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 to set up and use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resource overhead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Minimal prerequisites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Architecture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node, managed nodes, SSH, inventory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Components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Node: your laptop or CI/CD server (should be running on Linux)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Nodes: target servers (VMs, cloud, </a:t>
            </a:r>
            <a:r>
              <a:rPr lang="en-US" sz="13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(Can be Linux or Windows)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 / </a:t>
            </a:r>
            <a:r>
              <a:rPr lang="en-US" sz="1300" dirty="0" err="1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Winrm</a:t>
            </a: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only requirement on managed nodes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Inventory: defines hosts and groups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Playbooks: YAML files with tasks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Communication Flow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→ read inventory file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→ generate tasks via Playbooks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→ push via SSH to managed node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node → execute + return results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→ log results and next task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Inventory: Static vs Dynamic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17320"/>
            <a:ext cx="8229600" cy="333756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78638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Static Inventory File (YAML)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ansible_user: ubuntu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ansible_key_file: ~/.ssh/id_rsa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children: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webservers: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hosts: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web1.example.com: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web2.example.com: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dbservers: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hosts: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db1.example.com: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ansible_host: 10.0.1.50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Ad-Hoc Commands: Quick Tasks Without Playbooks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493520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49352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ansible all -m ping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14935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connectivity to all hosts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932432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93243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ansible webservers -m shell -a 'uptime'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93243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shell command on webservers group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371344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48640" y="23713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ansible all -m apt -a 'name=nginx state=present'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237134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package (idempotent)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810256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28102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ansible all -m service -a 'name=nginx state=started'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81025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service is running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Playbook: Install Nginx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8176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665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Deploy Nginx Web Servers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hosts: webservers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gather_facts: no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vars: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nginx_port: 80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tasks: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Install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apt: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present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Start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service: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started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enabled: yes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Ansible Modules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blocks for automation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560320" cy="1645920"/>
          </a:xfrm>
          <a:prstGeom prst="rect">
            <a:avLst/>
          </a:prstGeom>
          <a:solidFill>
            <a:srgbClr val="E8EE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554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apt / yum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0080" y="19659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Install/remove packages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291840" y="1417320"/>
            <a:ext cx="2560320" cy="1645920"/>
          </a:xfrm>
          <a:prstGeom prst="rect">
            <a:avLst/>
          </a:prstGeom>
          <a:solidFill>
            <a:srgbClr val="E8F8F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0" y="155448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931920" y="1554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 / command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3474720" y="19659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arbitrary commands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126480" y="1417320"/>
            <a:ext cx="2560320" cy="1645920"/>
          </a:xfrm>
          <a:prstGeom prst="rect">
            <a:avLst/>
          </a:prstGeom>
          <a:solidFill>
            <a:srgbClr val="F0E8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55448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766560" y="15544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309360" y="19659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Start/stop/restart services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57200" y="3246120"/>
            <a:ext cx="2560320" cy="1645920"/>
          </a:xfrm>
          <a:prstGeom prst="rect">
            <a:avLst/>
          </a:prstGeom>
          <a:solidFill>
            <a:srgbClr val="FFF0E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383280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97280" y="33832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/ template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947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files with/without variables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291840" y="3246120"/>
            <a:ext cx="2560320" cy="1645920"/>
          </a:xfrm>
          <a:prstGeom prst="rect">
            <a:avLst/>
          </a:prstGeom>
          <a:solidFill>
            <a:srgbClr val="FFF8E1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0" y="338328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931920" y="33832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/ group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3474720" y="37947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Create/modify users and groups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6126480" y="3246120"/>
            <a:ext cx="2560320" cy="1645920"/>
          </a:xfrm>
          <a:prstGeom prst="rect">
            <a:avLst/>
          </a:prstGeom>
          <a:solidFill>
            <a:srgbClr val="FFE8E8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9360" y="3383280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766560" y="33832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lineinfile / blockinfile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6309360" y="3794760"/>
            <a:ext cx="21945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config files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Handlers: Triggered Reactions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6652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Configure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hosts: webservers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tasks: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Copy nginx config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copy: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src: nginx.conf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dest: /etc/nginx/nginx.conf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notify: restart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handlers: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name: restart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service: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nginx</a:t>
            </a:r>
            <a:endParaRPr lang="en-US" sz="11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state: restarted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8ED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&amp; Secrets Management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Jinja2 templates and encrypted vaults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 (Three Ways)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Playbook vars: defined in play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group_vars/: per-group defaults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host_vars/: per-host overrides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with {{ variable }} in tasks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Precedence: host_vars &gt; group_vars &gt; defaults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FF6B6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Vault (Encryption)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secrets (passwords, keys) encrypted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ansible-vault create secrets.yml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in playbook normally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 password on ansible-playbook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unencrypted secrets to git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We Need Roles: Playbook Sprawl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complexity grows, playbooks become unmaintainable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CC6633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Monolithic Playbook Problems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giant playbook with 100+ tasks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to reuse nginx setup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Copy-paste leads to inconsistency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test individual components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becomes a nightmare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228B22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Solution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Self-contained, reusable units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 structure (tasks, defaults, etc)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use same role on 10 projects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test and version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via Ansible Galaxy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Roles: Self-Contained Automation Units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E8EE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325880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1325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Modular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1737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role handles one component (nginx, java, etc)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E8F8F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1325880"/>
            <a:ext cx="365760" cy="3657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394960" y="13258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937760" y="17373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Consistent directory layout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457200" y="3017520"/>
            <a:ext cx="3931920" cy="1645920"/>
          </a:xfrm>
          <a:prstGeom prst="rect">
            <a:avLst/>
          </a:prstGeom>
          <a:solidFill>
            <a:srgbClr val="F0E8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31546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3154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Reusable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35661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same role across many projects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4754880" y="3017520"/>
            <a:ext cx="3931920" cy="1645920"/>
          </a:xfrm>
          <a:prstGeom prst="rect">
            <a:avLst/>
          </a:prstGeom>
          <a:solidFill>
            <a:srgbClr val="FFF0E0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0" y="315468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394960" y="315468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Shareable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4937760" y="3566160"/>
            <a:ext cx="35661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to Ansible Galaxy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 Directory Structure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layout that Ansible expects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333756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roles/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nginx/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tasks/          # List of tasks to execute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main.yml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handlers/       # Handlers (restart service, reload config)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main.yml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defaults/       # Default variables (lowest precedence)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main.yml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vars/          # Role-specific variables (higher precedence)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main.yml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templates/      # Jinja2 templates (*.j2)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nginx.conf.j2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files/         # Static files (no templating)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│   └── index.html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meta/          # Role metadata and dependencies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└── main.yml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 Role: tasks/main.yml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381762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Install Nginx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apt: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nginx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state: present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Copy nginx config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template: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src: nginx.conf.j2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dest: /etc/nginx/nginx.conf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notify: restart nginx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Ensure Nginx is started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service: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name: nginx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state: started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enabled: yes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Create index page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copy: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src: index.html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dest: /var/www/html/index.html</a:t>
            </a:r>
            <a:endParaRPr lang="en-US" sz="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handlers/ and defaults/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Triggered reactions and configuration defaults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solidFill>
            <a:srgbClr val="326CE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handlers/main.yml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name: restart nginx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service: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name: nginx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state: restarted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Triggered by notify: in tasks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once at end of play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417320"/>
            <a:ext cx="393192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solidFill>
            <a:srgbClr val="00B07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4754880" y="141732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defaults/main.yml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37760" y="1965960"/>
            <a:ext cx="3566160" cy="2606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nginx_port: 80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nginx_user: www-data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nginx_worker: 4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enable_ssl: false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precedence variables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be overridden by playbook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0D4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Playbook: Using Roles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982980"/>
            <a:ext cx="8229600" cy="3995601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Deploy Production Servers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hosts: all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roles: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nginx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java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elasticsearch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Deploy with Variables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hosts: webservers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roles: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role: nginx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vars: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nginx_port: 8080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enable_ssl: true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name: Deploy with Tags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hosts: all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roles: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{ role: nginx, tags: web }</a:t>
            </a:r>
            <a:endParaRPr lang="en-US" sz="700" dirty="0"/>
          </a:p>
          <a:p>
            <a:pPr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7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- { role: java, tags: runtime }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Jinja2 Templating: Conditionals &amp; Loops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configuration files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3337560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3063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nginx.conf.j2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server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listen {{ nginx_port }};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server_name {{ server_name | default('_') }};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{% if enable_ssl %}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ssl_certificate {{ ssl_cert_path }};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ssl_certificate_key {{ ssl_key_path }};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{% endif %}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 / {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proxy_pass http://backend;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{% for header in custom_headers %}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add_header {{ header }};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{% endfor %}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Jinja2 Filters: Transform Data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var | upper }}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109728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to UPPERCASE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36192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48640" y="1536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var | lower 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0" y="1536192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to lowercase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975104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548640" y="19751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list | join(', ') }}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0" y="1975104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array with delimiter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414016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548640" y="24140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dict | to_nice_json }}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2414016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JSON nicely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548640" y="28529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var | default('fallback') }}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285292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fallback if undefined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4114800" cy="384048"/>
          </a:xfrm>
          <a:prstGeom prst="rect">
            <a:avLst/>
          </a:prstGeom>
          <a:solidFill>
            <a:srgbClr val="2D345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Text 17"/>
          <p:cNvSpPr/>
          <p:nvPr/>
        </p:nvSpPr>
        <p:spPr>
          <a:xfrm>
            <a:off x="548640" y="32918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D4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{{ var | int }}, {{ var | float }}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291840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A46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conversion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B25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 Precedence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7A8B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number = higher priority</a:t>
            </a:r>
            <a:endParaRPr 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E461E36-B145-091C-12D9-FB4ADF0F302D}"/>
              </a:ext>
            </a:extLst>
          </p:cNvPr>
          <p:cNvSpPr txBox="1"/>
          <p:nvPr/>
        </p:nvSpPr>
        <p:spPr>
          <a:xfrm>
            <a:off x="617220" y="1409700"/>
            <a:ext cx="755142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Command-line variables (</a:t>
            </a:r>
            <a:r>
              <a:rPr lang="en-US" sz="14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--extra-vars</a:t>
            </a:r>
            <a:r>
              <a:rPr lang="en-US" sz="1400" b="1"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-US" sz="1400">
                <a:latin typeface="Arial"/>
                <a:ea typeface="Arial"/>
                <a:cs typeface="Arial"/>
                <a:sym typeface="Arial"/>
              </a:rPr>
              <a:t> - 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Highest precedence // </a:t>
            </a:r>
            <a:r>
              <a:rPr lang="en-US" sz="140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 prescribed because the ideal/standard approach should always be to preserve everything in a file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dirty="0"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Playbook variables (</a:t>
            </a:r>
            <a:r>
              <a:rPr lang="en-US" sz="14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vars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 section)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Host variables (</a:t>
            </a:r>
            <a:r>
              <a:rPr lang="en-US" sz="1400" b="1" dirty="0" err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host_vars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Group variables (</a:t>
            </a:r>
            <a:r>
              <a:rPr lang="en-US" sz="1400" b="1" dirty="0" err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group_vars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) // Best place to define the variables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lvl="0"/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Role variables defined in </a:t>
            </a:r>
            <a:r>
              <a:rPr lang="en-US" sz="14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vars/</a:t>
            </a:r>
            <a:r>
              <a:rPr lang="en-US" sz="1400" b="1" dirty="0" err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main.yml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(if defined in the role) // </a:t>
            </a:r>
            <a:r>
              <a:rPr lang="en-US" sz="140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 the best place because we want to keep the role generic without any default or override variable</a:t>
            </a:r>
          </a:p>
          <a:p>
            <a:pPr lvl="0">
              <a:buClr>
                <a:schemeClr val="dk1"/>
              </a:buClr>
              <a:buSzPts val="1100"/>
            </a:pPr>
            <a:endParaRPr lang="en-US" sz="1400" dirty="0">
              <a:latin typeface="Arial"/>
              <a:ea typeface="Arial"/>
              <a:cs typeface="Arial"/>
              <a:sym typeface="Arial"/>
            </a:endParaRPr>
          </a:p>
          <a:p>
            <a:pPr lvl="0">
              <a:buClr>
                <a:schemeClr val="dk1"/>
              </a:buClr>
              <a:buSzPts val="1100"/>
            </a:pP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Role defaults (</a:t>
            </a:r>
            <a:r>
              <a:rPr lang="en-US" sz="14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defaults/</a:t>
            </a:r>
            <a:r>
              <a:rPr lang="en-US" sz="1400" b="1" dirty="0" err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main.yml</a:t>
            </a:r>
            <a:r>
              <a:rPr lang="en-US" sz="1400" b="1" dirty="0">
                <a:latin typeface="Arial"/>
                <a:ea typeface="Arial"/>
                <a:cs typeface="Arial"/>
                <a:sym typeface="Arial"/>
              </a:rPr>
              <a:t>)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– Lowest precedence // </a:t>
            </a:r>
            <a:r>
              <a:rPr lang="en-US" sz="1400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 the best place because we want to keep the role generic without any default or override variable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5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287780"/>
            <a:ext cx="1188720" cy="11887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6593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Hands-On Labs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1639</Words>
  <Application>Microsoft Office PowerPoint</Application>
  <PresentationFormat>On-screen Show (16:9)</PresentationFormat>
  <Paragraphs>320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Consolas</vt:lpstr>
      <vt:lpstr>Roboto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KubeCraft Technologies</cp:lastModifiedBy>
  <cp:revision>9</cp:revision>
  <dcterms:created xsi:type="dcterms:W3CDTF">2026-03-26T20:24:24Z</dcterms:created>
  <dcterms:modified xsi:type="dcterms:W3CDTF">2026-05-30T10:02:30Z</dcterms:modified>
</cp:coreProperties>
</file>